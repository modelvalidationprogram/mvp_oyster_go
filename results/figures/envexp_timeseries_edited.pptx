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0574000" cy="27432000"/>
  <p:notesSz cx="6858000" cy="9144000"/>
  <p:custDataLst>
    <p:tags r:id="rId8"/>
  </p:custDataLst>
  <p:defaultTextStyle>
    <a:defPPr>
      <a:defRPr lang="en-US"/>
    </a:defPPr>
    <a:lvl1pPr marL="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1pPr>
    <a:lvl2pPr marL="13716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2pPr>
    <a:lvl3pPr marL="27432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3pPr>
    <a:lvl4pPr marL="41148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4pPr>
    <a:lvl5pPr marL="54864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5pPr>
    <a:lvl6pPr marL="68580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5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6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EA8"/>
    <a:srgbClr val="FED154"/>
    <a:srgbClr val="FA2F39"/>
    <a:srgbClr val="1A79FF"/>
    <a:srgbClr val="17F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49"/>
    <p:restoredTop sz="95970"/>
  </p:normalViewPr>
  <p:slideViewPr>
    <p:cSldViewPr>
      <p:cViewPr>
        <p:scale>
          <a:sx n="37" d="100"/>
          <a:sy n="37" d="100"/>
        </p:scale>
        <p:origin x="1336" y="-1216"/>
      </p:cViewPr>
      <p:guideLst>
        <p:guide orient="horz" pos="8640"/>
        <p:guide pos="64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3050" y="8521702"/>
            <a:ext cx="17487900" cy="5880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6100" y="15544800"/>
            <a:ext cx="14401800" cy="7010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204" y="17627602"/>
            <a:ext cx="17487900" cy="54483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204" y="11626854"/>
            <a:ext cx="17487900" cy="600074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6400802"/>
            <a:ext cx="9086850" cy="181038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58450" y="6400802"/>
            <a:ext cx="9086850" cy="181038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6140452"/>
            <a:ext cx="9090423" cy="25590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8699500"/>
            <a:ext cx="9090423" cy="158051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51307" y="6140452"/>
            <a:ext cx="9093994" cy="25590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451307" y="8699500"/>
            <a:ext cx="9093994" cy="158051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1098552"/>
            <a:ext cx="18516600" cy="45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6400802"/>
            <a:ext cx="18516600" cy="18103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8700" y="25425402"/>
            <a:ext cx="4800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29450" y="25425402"/>
            <a:ext cx="65151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744700" y="25425402"/>
            <a:ext cx="4800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Picture 1626">
            <a:extLst>
              <a:ext uri="{FF2B5EF4-FFF2-40B4-BE49-F238E27FC236}">
                <a16:creationId xmlns:a16="http://schemas.microsoft.com/office/drawing/2014/main" id="{C6EEC906-C426-DB7E-DCBD-E643E523A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184961"/>
            <a:ext cx="7772400" cy="5062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D272F0-1DD9-0D7B-70E3-D25AC1131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184961"/>
            <a:ext cx="7772400" cy="50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8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F483-C95A-8C0D-224A-7FFB64A8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863E86-5A9A-BD1D-C791-92D0DB01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751"/>
          <a:stretch>
            <a:fillRect/>
          </a:stretch>
        </p:blipFill>
        <p:spPr>
          <a:xfrm>
            <a:off x="6425952" y="11098324"/>
            <a:ext cx="6237312" cy="38164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4F3CC1-C09B-966C-32D4-529A1B86A6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427"/>
          <a:stretch>
            <a:fillRect/>
          </a:stretch>
        </p:blipFill>
        <p:spPr>
          <a:xfrm>
            <a:off x="6400800" y="6731224"/>
            <a:ext cx="6262464" cy="38164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12F6CE-9895-DF0A-D3CD-1859898A55ED}"/>
              </a:ext>
            </a:extLst>
          </p:cNvPr>
          <p:cNvSpPr/>
          <p:nvPr/>
        </p:nvSpPr>
        <p:spPr>
          <a:xfrm>
            <a:off x="6902624" y="6479196"/>
            <a:ext cx="554461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lphaUcParenBoth"/>
            </a:pPr>
            <a:r>
              <a:rPr lang="en-US" sz="2400" dirty="0">
                <a:solidFill>
                  <a:schemeClr val="tx1"/>
                </a:solidFill>
              </a:rPr>
              <a:t>Temperature in Common Gardens over 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Experimental Period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65CA4-6490-1AA6-0739-E8D2DF9B88A2}"/>
              </a:ext>
            </a:extLst>
          </p:cNvPr>
          <p:cNvSpPr/>
          <p:nvPr/>
        </p:nvSpPr>
        <p:spPr>
          <a:xfrm>
            <a:off x="6902624" y="10814956"/>
            <a:ext cx="554461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(B) Salinity in Common Gardens over 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Experimental Period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61FFE3-4F27-F3AF-E33A-1B083E052C7E}"/>
              </a:ext>
            </a:extLst>
          </p:cNvPr>
          <p:cNvSpPr/>
          <p:nvPr/>
        </p:nvSpPr>
        <p:spPr>
          <a:xfrm rot="16200000">
            <a:off x="5445106" y="8146479"/>
            <a:ext cx="191138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Temperature (ºC)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59778-732E-136E-8DD3-C70038ED669A}"/>
              </a:ext>
            </a:extLst>
          </p:cNvPr>
          <p:cNvSpPr/>
          <p:nvPr/>
        </p:nvSpPr>
        <p:spPr>
          <a:xfrm rot="16200000">
            <a:off x="5702449" y="12765621"/>
            <a:ext cx="1396702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Salinity (ppt)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34834B-B656-1DEE-6351-919E85607E90}"/>
              </a:ext>
            </a:extLst>
          </p:cNvPr>
          <p:cNvSpPr/>
          <p:nvPr/>
        </p:nvSpPr>
        <p:spPr>
          <a:xfrm>
            <a:off x="8719238" y="10344820"/>
            <a:ext cx="1911388" cy="220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67B18A-2FBA-B389-F66C-59258AB6DB6A}"/>
              </a:ext>
            </a:extLst>
          </p:cNvPr>
          <p:cNvSpPr/>
          <p:nvPr/>
        </p:nvSpPr>
        <p:spPr>
          <a:xfrm>
            <a:off x="8719238" y="14694060"/>
            <a:ext cx="1911388" cy="220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13AD43-C090-4BE8-F924-0BC6F4FD2122}"/>
              </a:ext>
            </a:extLst>
          </p:cNvPr>
          <p:cNvGrpSpPr/>
          <p:nvPr/>
        </p:nvGrpSpPr>
        <p:grpSpPr>
          <a:xfrm>
            <a:off x="12591256" y="7158608"/>
            <a:ext cx="1911388" cy="940769"/>
            <a:chOff x="12591256" y="7158608"/>
            <a:chExt cx="1911388" cy="94076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6597BA-21D6-F849-5EC3-980E9C880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0573" t="40042" b="41465"/>
            <a:stretch>
              <a:fillRect/>
            </a:stretch>
          </p:blipFill>
          <p:spPr>
            <a:xfrm>
              <a:off x="12663264" y="7163272"/>
              <a:ext cx="1509936" cy="93610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61C437-6E6E-497D-D237-41B1E4EC8F50}"/>
                </a:ext>
              </a:extLst>
            </p:cNvPr>
            <p:cNvSpPr/>
            <p:nvPr/>
          </p:nvSpPr>
          <p:spPr>
            <a:xfrm>
              <a:off x="12591256" y="7158608"/>
              <a:ext cx="1911388" cy="220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dirty="0">
                  <a:solidFill>
                    <a:schemeClr val="tx1"/>
                  </a:solidFill>
                </a:rPr>
                <a:t>Common Garden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472DED-9560-BF65-1E25-A67B0403DBE6}"/>
                </a:ext>
              </a:extLst>
            </p:cNvPr>
            <p:cNvSpPr/>
            <p:nvPr/>
          </p:nvSpPr>
          <p:spPr>
            <a:xfrm>
              <a:off x="12915292" y="7442813"/>
              <a:ext cx="1188132" cy="220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Lewisetta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697CFC-8144-422B-9249-87AAF57E0972}"/>
                </a:ext>
              </a:extLst>
            </p:cNvPr>
            <p:cNvSpPr/>
            <p:nvPr/>
          </p:nvSpPr>
          <p:spPr>
            <a:xfrm>
              <a:off x="12915292" y="7696336"/>
              <a:ext cx="1188132" cy="220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York River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CBB124-67C4-06F0-28E8-F4003F27691A}"/>
                </a:ext>
              </a:extLst>
            </p:cNvPr>
            <p:cNvSpPr/>
            <p:nvPr/>
          </p:nvSpPr>
          <p:spPr>
            <a:xfrm>
              <a:off x="12719974" y="7466645"/>
              <a:ext cx="180020" cy="173024"/>
            </a:xfrm>
            <a:prstGeom prst="rect">
              <a:avLst/>
            </a:prstGeom>
            <a:solidFill>
              <a:srgbClr val="17FF7E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1A1061-E520-DEB3-7B5B-0159FE886A1C}"/>
                </a:ext>
              </a:extLst>
            </p:cNvPr>
            <p:cNvSpPr/>
            <p:nvPr/>
          </p:nvSpPr>
          <p:spPr>
            <a:xfrm>
              <a:off x="12719974" y="7727957"/>
              <a:ext cx="180020" cy="173024"/>
            </a:xfrm>
            <a:prstGeom prst="rect">
              <a:avLst/>
            </a:prstGeom>
            <a:solidFill>
              <a:srgbClr val="1A79FF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087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3434-1AC4-28D0-EDDB-FAF03ADD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77A6EBE-B1C4-C668-A153-1812FF9DA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184961"/>
            <a:ext cx="7772400" cy="50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0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C5BBBF-932F-8EC7-7784-6A4D748DA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184961"/>
            <a:ext cx="7772400" cy="50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5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7E53A25-1C40-1D92-23FC-2925B8E0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251"/>
          <a:stretch>
            <a:fillRect/>
          </a:stretch>
        </p:blipFill>
        <p:spPr>
          <a:xfrm>
            <a:off x="1833267" y="10475639"/>
            <a:ext cx="6120680" cy="5062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3196B2-5E38-8770-253B-B3F65DE8AB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251"/>
          <a:stretch>
            <a:fillRect/>
          </a:stretch>
        </p:blipFill>
        <p:spPr>
          <a:xfrm>
            <a:off x="8486800" y="10475640"/>
            <a:ext cx="6120680" cy="50620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7FE153-138F-5037-73AC-9A49FA9A3851}"/>
              </a:ext>
            </a:extLst>
          </p:cNvPr>
          <p:cNvSpPr/>
          <p:nvPr/>
        </p:nvSpPr>
        <p:spPr>
          <a:xfrm>
            <a:off x="2366120" y="10223612"/>
            <a:ext cx="554461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lphaUcParenBoth"/>
            </a:pPr>
            <a:r>
              <a:rPr lang="en-US" sz="2400" dirty="0">
                <a:solidFill>
                  <a:schemeClr val="tx1"/>
                </a:solidFill>
              </a:rPr>
              <a:t>MSX Prevalence in Common Gardens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over Experimental Period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BDB0B-43F6-DF09-BD60-F2DD48B7EF2D}"/>
              </a:ext>
            </a:extLst>
          </p:cNvPr>
          <p:cNvSpPr/>
          <p:nvPr/>
        </p:nvSpPr>
        <p:spPr>
          <a:xfrm>
            <a:off x="9062864" y="10223612"/>
            <a:ext cx="554461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(B) Dermo Prevalence in Common Gardens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over Experimental Period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E700F-0EF8-5456-DDDD-C6AE43DDAA7B}"/>
              </a:ext>
            </a:extLst>
          </p:cNvPr>
          <p:cNvSpPr/>
          <p:nvPr/>
        </p:nvSpPr>
        <p:spPr>
          <a:xfrm rot="16200000">
            <a:off x="1003453" y="12754651"/>
            <a:ext cx="186123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MSX Prevalence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DCFE68-8327-CBBF-9940-8C3FF8FA4A83}"/>
              </a:ext>
            </a:extLst>
          </p:cNvPr>
          <p:cNvSpPr/>
          <p:nvPr/>
        </p:nvSpPr>
        <p:spPr>
          <a:xfrm rot="16200000">
            <a:off x="7479981" y="12754651"/>
            <a:ext cx="201363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Dermo Prevalence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53A8DB-AFFB-CE30-C4F8-FBF259979F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573" t="40042" b="41465"/>
          <a:stretch>
            <a:fillRect/>
          </a:stretch>
        </p:blipFill>
        <p:spPr>
          <a:xfrm>
            <a:off x="14695575" y="11063755"/>
            <a:ext cx="1509936" cy="93610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3D705FC-818C-E749-F479-1B13F50D427C}"/>
              </a:ext>
            </a:extLst>
          </p:cNvPr>
          <p:cNvSpPr/>
          <p:nvPr/>
        </p:nvSpPr>
        <p:spPr>
          <a:xfrm>
            <a:off x="14623567" y="10775020"/>
            <a:ext cx="191138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Common Garden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B86C2-778A-5741-1BB6-E10469737AC5}"/>
              </a:ext>
            </a:extLst>
          </p:cNvPr>
          <p:cNvSpPr/>
          <p:nvPr/>
        </p:nvSpPr>
        <p:spPr>
          <a:xfrm>
            <a:off x="15075532" y="11343296"/>
            <a:ext cx="1188132" cy="220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Lewisetta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4EF363-8867-5EA1-46FF-5D2FF7DB813D}"/>
              </a:ext>
            </a:extLst>
          </p:cNvPr>
          <p:cNvSpPr/>
          <p:nvPr/>
        </p:nvSpPr>
        <p:spPr>
          <a:xfrm>
            <a:off x="15075532" y="11691120"/>
            <a:ext cx="1188132" cy="220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York River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F4F35-B256-A04C-C1E9-8CD700735543}"/>
              </a:ext>
            </a:extLst>
          </p:cNvPr>
          <p:cNvSpPr/>
          <p:nvPr/>
        </p:nvSpPr>
        <p:spPr>
          <a:xfrm>
            <a:off x="4063793" y="15285690"/>
            <a:ext cx="186123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50C191-6378-8F50-B5C2-16554B72D4E0}"/>
              </a:ext>
            </a:extLst>
          </p:cNvPr>
          <p:cNvSpPr/>
          <p:nvPr/>
        </p:nvSpPr>
        <p:spPr>
          <a:xfrm>
            <a:off x="10724533" y="15285690"/>
            <a:ext cx="186123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413902-5562-5AA6-653F-D154E7BBE925}"/>
              </a:ext>
            </a:extLst>
          </p:cNvPr>
          <p:cNvSpPr/>
          <p:nvPr/>
        </p:nvSpPr>
        <p:spPr>
          <a:xfrm>
            <a:off x="14752285" y="11628440"/>
            <a:ext cx="180020" cy="173024"/>
          </a:xfrm>
          <a:prstGeom prst="rect">
            <a:avLst/>
          </a:prstGeom>
          <a:solidFill>
            <a:srgbClr val="1A79F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1DCC6A-F960-7A05-075E-0F4DC1EC042C}"/>
              </a:ext>
            </a:extLst>
          </p:cNvPr>
          <p:cNvSpPr/>
          <p:nvPr/>
        </p:nvSpPr>
        <p:spPr>
          <a:xfrm>
            <a:off x="14752285" y="11367128"/>
            <a:ext cx="180020" cy="173024"/>
          </a:xfrm>
          <a:prstGeom prst="rect">
            <a:avLst/>
          </a:prstGeom>
          <a:solidFill>
            <a:srgbClr val="17FF7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B5CC8C-473E-A0DF-E263-34499A30C267}"/>
              </a:ext>
            </a:extLst>
          </p:cNvPr>
          <p:cNvSpPr/>
          <p:nvPr/>
        </p:nvSpPr>
        <p:spPr>
          <a:xfrm>
            <a:off x="14679488" y="11276331"/>
            <a:ext cx="338328" cy="334418"/>
          </a:xfrm>
          <a:prstGeom prst="rect">
            <a:avLst/>
          </a:prstGeom>
          <a:solidFill>
            <a:srgbClr val="17FF7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D2B97F-10BD-A100-9EDE-FB0184035C5A}"/>
              </a:ext>
            </a:extLst>
          </p:cNvPr>
          <p:cNvSpPr/>
          <p:nvPr/>
        </p:nvSpPr>
        <p:spPr>
          <a:xfrm>
            <a:off x="14679488" y="11624037"/>
            <a:ext cx="338328" cy="334418"/>
          </a:xfrm>
          <a:prstGeom prst="rect">
            <a:avLst/>
          </a:prstGeom>
          <a:solidFill>
            <a:srgbClr val="1A79F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685F93-01E0-04D8-399E-5745C28B6CF6}"/>
              </a:ext>
            </a:extLst>
          </p:cNvPr>
          <p:cNvGrpSpPr/>
          <p:nvPr/>
        </p:nvGrpSpPr>
        <p:grpSpPr>
          <a:xfrm>
            <a:off x="1248943" y="15625067"/>
            <a:ext cx="15059220" cy="10188277"/>
            <a:chOff x="1248943" y="15625067"/>
            <a:chExt cx="15059220" cy="10995706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6D93FDB-3310-08E6-8320-61ACF7510E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490"/>
            <a:stretch>
              <a:fillRect/>
            </a:stretch>
          </p:blipFill>
          <p:spPr bwMode="auto">
            <a:xfrm>
              <a:off x="1248943" y="15625067"/>
              <a:ext cx="11846368" cy="107436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3C567E-A26E-786B-C29F-605FE95B1F4A}"/>
                </a:ext>
              </a:extLst>
            </p:cNvPr>
            <p:cNvSpPr/>
            <p:nvPr/>
          </p:nvSpPr>
          <p:spPr>
            <a:xfrm>
              <a:off x="2517049" y="15789746"/>
              <a:ext cx="1223523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(C) Median Disease Pressure By Common Garden Site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420000-4144-D14F-B365-BFC7642A389E}"/>
                </a:ext>
              </a:extLst>
            </p:cNvPr>
            <p:cNvSpPr/>
            <p:nvPr/>
          </p:nvSpPr>
          <p:spPr>
            <a:xfrm rot="16200000">
              <a:off x="-1184948" y="20744878"/>
              <a:ext cx="5371839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Disease Prevalence</a:t>
              </a:r>
            </a:p>
          </p:txBody>
        </p:sp>
        <p:pic>
          <p:nvPicPr>
            <p:cNvPr id="25" name="Picture 4">
              <a:extLst>
                <a:ext uri="{FF2B5EF4-FFF2-40B4-BE49-F238E27FC236}">
                  <a16:creationId xmlns:a16="http://schemas.microsoft.com/office/drawing/2014/main" id="{A85BCA85-A8CA-E9D2-74A9-9404749B3B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436" t="38214" b="39430"/>
            <a:stretch>
              <a:fillRect/>
            </a:stretch>
          </p:blipFill>
          <p:spPr bwMode="auto">
            <a:xfrm>
              <a:off x="14695575" y="16426681"/>
              <a:ext cx="1612588" cy="1554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A70AE1D-8B2A-765F-39A6-3F3BD09D5C55}"/>
                </a:ext>
              </a:extLst>
            </p:cNvPr>
            <p:cNvSpPr/>
            <p:nvPr/>
          </p:nvSpPr>
          <p:spPr>
            <a:xfrm>
              <a:off x="14877288" y="16797528"/>
              <a:ext cx="338328" cy="334418"/>
            </a:xfrm>
            <a:prstGeom prst="rect">
              <a:avLst/>
            </a:prstGeom>
            <a:solidFill>
              <a:srgbClr val="FA2F39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3BB425-0EBF-10DA-3D83-CF4F390350BF}"/>
                </a:ext>
              </a:extLst>
            </p:cNvPr>
            <p:cNvSpPr/>
            <p:nvPr/>
          </p:nvSpPr>
          <p:spPr>
            <a:xfrm>
              <a:off x="14877288" y="17145234"/>
              <a:ext cx="338328" cy="334418"/>
            </a:xfrm>
            <a:prstGeom prst="rect">
              <a:avLst/>
            </a:prstGeom>
            <a:solidFill>
              <a:srgbClr val="FED15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BDF8AB-D751-4B6D-C3FA-7C4D3D2527B3}"/>
                </a:ext>
              </a:extLst>
            </p:cNvPr>
            <p:cNvSpPr/>
            <p:nvPr/>
          </p:nvSpPr>
          <p:spPr>
            <a:xfrm>
              <a:off x="14877288" y="17492940"/>
              <a:ext cx="338328" cy="334418"/>
            </a:xfrm>
            <a:prstGeom prst="rect">
              <a:avLst/>
            </a:prstGeom>
            <a:solidFill>
              <a:srgbClr val="118EA8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5802A6-DCAC-04B2-21F4-8BE8E372DD2B}"/>
                </a:ext>
              </a:extLst>
            </p:cNvPr>
            <p:cNvSpPr/>
            <p:nvPr/>
          </p:nvSpPr>
          <p:spPr>
            <a:xfrm>
              <a:off x="4993843" y="25813344"/>
              <a:ext cx="5371839" cy="807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Common Garden Site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622416-87C8-F692-028A-58BAFC9CB925}"/>
                </a:ext>
              </a:extLst>
            </p:cNvPr>
            <p:cNvSpPr/>
            <p:nvPr/>
          </p:nvSpPr>
          <p:spPr>
            <a:xfrm>
              <a:off x="2538897" y="25525312"/>
              <a:ext cx="5371839" cy="4037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Lewisetta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B4077A6-CB69-03EA-3956-F08D2681C364}"/>
                </a:ext>
              </a:extLst>
            </p:cNvPr>
            <p:cNvSpPr/>
            <p:nvPr/>
          </p:nvSpPr>
          <p:spPr>
            <a:xfrm>
              <a:off x="7177990" y="25543313"/>
              <a:ext cx="5371839" cy="4037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York River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75047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84</Words>
  <Application>Microsoft Macintosh PowerPoint</Application>
  <PresentationFormat>Custom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5</cp:revision>
  <dcterms:created xsi:type="dcterms:W3CDTF">2017-02-13T16:18:36Z</dcterms:created>
  <dcterms:modified xsi:type="dcterms:W3CDTF">2026-02-01T22:58:56Z</dcterms:modified>
  <cp:category/>
</cp:coreProperties>
</file>