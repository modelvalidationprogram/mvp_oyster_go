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5544800" cy="20116800"/>
  <p:notesSz cx="6858000" cy="9144000"/>
  <p:custDataLst>
    <p:tags r:id="rId8"/>
  </p:custDataLst>
  <p:defaultTextStyle>
    <a:defPPr>
      <a:defRPr lang="en-US"/>
    </a:defPPr>
    <a:lvl1pPr marL="0" algn="l" defTabSz="2037272" rtl="0" eaLnBrk="1" latinLnBrk="0" hangingPunct="1">
      <a:defRPr sz="4011" kern="1200">
        <a:solidFill>
          <a:schemeClr val="tx1"/>
        </a:solidFill>
        <a:latin typeface="+mn-lt"/>
        <a:ea typeface="+mn-ea"/>
        <a:cs typeface="+mn-cs"/>
      </a:defRPr>
    </a:lvl1pPr>
    <a:lvl2pPr marL="1018636" algn="l" defTabSz="2037272" rtl="0" eaLnBrk="1" latinLnBrk="0" hangingPunct="1">
      <a:defRPr sz="4011" kern="1200">
        <a:solidFill>
          <a:schemeClr val="tx1"/>
        </a:solidFill>
        <a:latin typeface="+mn-lt"/>
        <a:ea typeface="+mn-ea"/>
        <a:cs typeface="+mn-cs"/>
      </a:defRPr>
    </a:lvl2pPr>
    <a:lvl3pPr marL="2037272" algn="l" defTabSz="2037272" rtl="0" eaLnBrk="1" latinLnBrk="0" hangingPunct="1">
      <a:defRPr sz="4011" kern="1200">
        <a:solidFill>
          <a:schemeClr val="tx1"/>
        </a:solidFill>
        <a:latin typeface="+mn-lt"/>
        <a:ea typeface="+mn-ea"/>
        <a:cs typeface="+mn-cs"/>
      </a:defRPr>
    </a:lvl3pPr>
    <a:lvl4pPr marL="3055907" algn="l" defTabSz="2037272" rtl="0" eaLnBrk="1" latinLnBrk="0" hangingPunct="1">
      <a:defRPr sz="4011" kern="1200">
        <a:solidFill>
          <a:schemeClr val="tx1"/>
        </a:solidFill>
        <a:latin typeface="+mn-lt"/>
        <a:ea typeface="+mn-ea"/>
        <a:cs typeface="+mn-cs"/>
      </a:defRPr>
    </a:lvl4pPr>
    <a:lvl5pPr marL="4074545" algn="l" defTabSz="2037272" rtl="0" eaLnBrk="1" latinLnBrk="0" hangingPunct="1">
      <a:defRPr sz="4011" kern="1200">
        <a:solidFill>
          <a:schemeClr val="tx1"/>
        </a:solidFill>
        <a:latin typeface="+mn-lt"/>
        <a:ea typeface="+mn-ea"/>
        <a:cs typeface="+mn-cs"/>
      </a:defRPr>
    </a:lvl5pPr>
    <a:lvl6pPr marL="5093181" algn="l" defTabSz="2037272" rtl="0" eaLnBrk="1" latinLnBrk="0" hangingPunct="1">
      <a:defRPr sz="4011" kern="1200">
        <a:solidFill>
          <a:schemeClr val="tx1"/>
        </a:solidFill>
        <a:latin typeface="+mn-lt"/>
        <a:ea typeface="+mn-ea"/>
        <a:cs typeface="+mn-cs"/>
      </a:defRPr>
    </a:lvl6pPr>
    <a:lvl7pPr marL="6111818" algn="l" defTabSz="2037272" rtl="0" eaLnBrk="1" latinLnBrk="0" hangingPunct="1">
      <a:defRPr sz="4011" kern="1200">
        <a:solidFill>
          <a:schemeClr val="tx1"/>
        </a:solidFill>
        <a:latin typeface="+mn-lt"/>
        <a:ea typeface="+mn-ea"/>
        <a:cs typeface="+mn-cs"/>
      </a:defRPr>
    </a:lvl7pPr>
    <a:lvl8pPr marL="7130454" algn="l" defTabSz="2037272" rtl="0" eaLnBrk="1" latinLnBrk="0" hangingPunct="1">
      <a:defRPr sz="4011" kern="1200">
        <a:solidFill>
          <a:schemeClr val="tx1"/>
        </a:solidFill>
        <a:latin typeface="+mn-lt"/>
        <a:ea typeface="+mn-ea"/>
        <a:cs typeface="+mn-cs"/>
      </a:defRPr>
    </a:lvl8pPr>
    <a:lvl9pPr marL="8149089" algn="l" defTabSz="2037272" rtl="0" eaLnBrk="1" latinLnBrk="0" hangingPunct="1">
      <a:defRPr sz="401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336" userDrawn="1">
          <p15:clr>
            <a:srgbClr val="A4A3A4"/>
          </p15:clr>
        </p15:guide>
        <p15:guide id="2" pos="489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8EA8"/>
    <a:srgbClr val="FED154"/>
    <a:srgbClr val="FA2F39"/>
    <a:srgbClr val="1A79FF"/>
    <a:srgbClr val="17FF7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486"/>
    <p:restoredTop sz="95970"/>
  </p:normalViewPr>
  <p:slideViewPr>
    <p:cSldViewPr>
      <p:cViewPr varScale="1">
        <p:scale>
          <a:sx n="38" d="100"/>
          <a:sy n="38" d="100"/>
        </p:scale>
        <p:origin x="2624" y="192"/>
      </p:cViewPr>
      <p:guideLst>
        <p:guide orient="horz" pos="6336"/>
        <p:guide pos="489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65860" y="6249250"/>
            <a:ext cx="13213080" cy="431207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31720" y="11399520"/>
            <a:ext cx="10881360" cy="514096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886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7772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1658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554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9431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3317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7203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108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07/05/2026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07/05/2026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7932" y="12926909"/>
            <a:ext cx="13213080" cy="3995420"/>
          </a:xfrm>
        </p:spPr>
        <p:txBody>
          <a:bodyPr anchor="t"/>
          <a:lstStyle>
            <a:lvl1pPr algn="l">
              <a:defRPr sz="34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7932" y="8526360"/>
            <a:ext cx="13213080" cy="4400548"/>
          </a:xfrm>
        </p:spPr>
        <p:txBody>
          <a:bodyPr anchor="b"/>
          <a:lstStyle>
            <a:lvl1pPr marL="0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1pPr>
            <a:lvl2pPr marL="388620" indent="0">
              <a:buNone/>
              <a:defRPr sz="1530">
                <a:solidFill>
                  <a:schemeClr val="tx1">
                    <a:tint val="75000"/>
                  </a:schemeClr>
                </a:solidFill>
              </a:defRPr>
            </a:lvl2pPr>
            <a:lvl3pPr marL="77724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3pPr>
            <a:lvl4pPr marL="1165860" indent="0">
              <a:buNone/>
              <a:defRPr sz="1190">
                <a:solidFill>
                  <a:schemeClr val="tx1">
                    <a:tint val="75000"/>
                  </a:schemeClr>
                </a:solidFill>
              </a:defRPr>
            </a:lvl4pPr>
            <a:lvl5pPr marL="1554480" indent="0">
              <a:buNone/>
              <a:defRPr sz="1190">
                <a:solidFill>
                  <a:schemeClr val="tx1">
                    <a:tint val="75000"/>
                  </a:schemeClr>
                </a:solidFill>
              </a:defRPr>
            </a:lvl5pPr>
            <a:lvl6pPr marL="1943100" indent="0">
              <a:buNone/>
              <a:defRPr sz="1190">
                <a:solidFill>
                  <a:schemeClr val="tx1">
                    <a:tint val="75000"/>
                  </a:schemeClr>
                </a:solidFill>
              </a:defRPr>
            </a:lvl6pPr>
            <a:lvl7pPr marL="2331720" indent="0">
              <a:buNone/>
              <a:defRPr sz="1190">
                <a:solidFill>
                  <a:schemeClr val="tx1">
                    <a:tint val="75000"/>
                  </a:schemeClr>
                </a:solidFill>
              </a:defRPr>
            </a:lvl7pPr>
            <a:lvl8pPr marL="2720340" indent="0">
              <a:buNone/>
              <a:defRPr sz="1190">
                <a:solidFill>
                  <a:schemeClr val="tx1">
                    <a:tint val="75000"/>
                  </a:schemeClr>
                </a:solidFill>
              </a:defRPr>
            </a:lvl8pPr>
            <a:lvl9pPr marL="3108960" indent="0">
              <a:buNone/>
              <a:defRPr sz="119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07/05/2026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77240" y="4693922"/>
            <a:ext cx="6865620" cy="13276159"/>
          </a:xfrm>
        </p:spPr>
        <p:txBody>
          <a:bodyPr/>
          <a:lstStyle>
            <a:lvl1pPr>
              <a:defRPr sz="2380"/>
            </a:lvl1pPr>
            <a:lvl2pPr>
              <a:defRPr sz="2040"/>
            </a:lvl2pPr>
            <a:lvl3pPr>
              <a:defRPr sz="1700"/>
            </a:lvl3pPr>
            <a:lvl4pPr>
              <a:defRPr sz="1530"/>
            </a:lvl4pPr>
            <a:lvl5pPr>
              <a:defRPr sz="1530"/>
            </a:lvl5pPr>
            <a:lvl6pPr>
              <a:defRPr sz="1530"/>
            </a:lvl6pPr>
            <a:lvl7pPr>
              <a:defRPr sz="1530"/>
            </a:lvl7pPr>
            <a:lvl8pPr>
              <a:defRPr sz="1530"/>
            </a:lvl8pPr>
            <a:lvl9pPr>
              <a:defRPr sz="153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01940" y="4693922"/>
            <a:ext cx="6865620" cy="13276159"/>
          </a:xfrm>
        </p:spPr>
        <p:txBody>
          <a:bodyPr/>
          <a:lstStyle>
            <a:lvl1pPr>
              <a:defRPr sz="2380"/>
            </a:lvl1pPr>
            <a:lvl2pPr>
              <a:defRPr sz="2040"/>
            </a:lvl2pPr>
            <a:lvl3pPr>
              <a:defRPr sz="1700"/>
            </a:lvl3pPr>
            <a:lvl4pPr>
              <a:defRPr sz="1530"/>
            </a:lvl4pPr>
            <a:lvl5pPr>
              <a:defRPr sz="1530"/>
            </a:lvl5pPr>
            <a:lvl6pPr>
              <a:defRPr sz="1530"/>
            </a:lvl6pPr>
            <a:lvl7pPr>
              <a:defRPr sz="1530"/>
            </a:lvl7pPr>
            <a:lvl8pPr>
              <a:defRPr sz="1530"/>
            </a:lvl8pPr>
            <a:lvl9pPr>
              <a:defRPr sz="153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07/05/2026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4502998"/>
            <a:ext cx="6868320" cy="1876635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77240" y="6379633"/>
            <a:ext cx="6868320" cy="11590445"/>
          </a:xfrm>
        </p:spPr>
        <p:txBody>
          <a:bodyPr/>
          <a:lstStyle>
            <a:lvl1pPr>
              <a:defRPr sz="2040"/>
            </a:lvl1pPr>
            <a:lvl2pPr>
              <a:defRPr sz="1700"/>
            </a:lvl2pPr>
            <a:lvl3pPr>
              <a:defRPr sz="1530"/>
            </a:lvl3pPr>
            <a:lvl4pPr>
              <a:defRPr sz="1360"/>
            </a:lvl4pPr>
            <a:lvl5pPr>
              <a:defRPr sz="1360"/>
            </a:lvl5pPr>
            <a:lvl6pPr>
              <a:defRPr sz="1360"/>
            </a:lvl6pPr>
            <a:lvl7pPr>
              <a:defRPr sz="1360"/>
            </a:lvl7pPr>
            <a:lvl8pPr>
              <a:defRPr sz="1360"/>
            </a:lvl8pPr>
            <a:lvl9pPr>
              <a:defRPr sz="13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96543" y="4502998"/>
            <a:ext cx="6871018" cy="1876635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96543" y="6379633"/>
            <a:ext cx="6871018" cy="11590445"/>
          </a:xfrm>
        </p:spPr>
        <p:txBody>
          <a:bodyPr/>
          <a:lstStyle>
            <a:lvl1pPr>
              <a:defRPr sz="2040"/>
            </a:lvl1pPr>
            <a:lvl2pPr>
              <a:defRPr sz="1700"/>
            </a:lvl2pPr>
            <a:lvl3pPr>
              <a:defRPr sz="1530"/>
            </a:lvl3pPr>
            <a:lvl4pPr>
              <a:defRPr sz="1360"/>
            </a:lvl4pPr>
            <a:lvl5pPr>
              <a:defRPr sz="1360"/>
            </a:lvl5pPr>
            <a:lvl6pPr>
              <a:defRPr sz="1360"/>
            </a:lvl6pPr>
            <a:lvl7pPr>
              <a:defRPr sz="1360"/>
            </a:lvl7pPr>
            <a:lvl8pPr>
              <a:defRPr sz="1360"/>
            </a:lvl8pPr>
            <a:lvl9pPr>
              <a:defRPr sz="13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07/05/2026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07/05/2026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07/05/2026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7240" y="805605"/>
            <a:ext cx="13990320" cy="3352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4693922"/>
            <a:ext cx="13990320" cy="132761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77240" y="18645295"/>
            <a:ext cx="3627120" cy="10710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07/05/2026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11140" y="18645295"/>
            <a:ext cx="4922520" cy="10710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140440" y="18645295"/>
            <a:ext cx="3627120" cy="10710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777240" rtl="0" eaLnBrk="1" latinLnBrk="0" hangingPunct="1"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1465" indent="-291465" algn="l" defTabSz="777240" rtl="0" eaLnBrk="1" latinLnBrk="0" hangingPunct="1">
        <a:spcBef>
          <a:spcPct val="20000"/>
        </a:spcBef>
        <a:buFont typeface="Arial" panose="020B0604020202020204" pitchFamily="34" charset="0"/>
        <a:buChar char="•"/>
        <a:defRPr sz="2720" kern="1200">
          <a:solidFill>
            <a:schemeClr val="tx1"/>
          </a:solidFill>
          <a:latin typeface="+mn-lt"/>
          <a:ea typeface="+mn-ea"/>
          <a:cs typeface="+mn-cs"/>
        </a:defRPr>
      </a:lvl1pPr>
      <a:lvl2pPr marL="631508" indent="-242888" algn="l" defTabSz="777240" rtl="0" eaLnBrk="1" latinLnBrk="0" hangingPunct="1">
        <a:spcBef>
          <a:spcPct val="20000"/>
        </a:spcBef>
        <a:buFont typeface="Arial" panose="020B0604020202020204" pitchFamily="34" charset="0"/>
        <a:buChar char="–"/>
        <a:defRPr sz="238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spcBef>
          <a:spcPct val="200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spcBef>
          <a:spcPct val="20000"/>
        </a:spcBef>
        <a:buFont typeface="Arial" panose="020B0604020202020204" pitchFamily="34" charset="0"/>
        <a:buChar char="»"/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spcBef>
          <a:spcPct val="20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spcBef>
          <a:spcPct val="20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spcBef>
          <a:spcPct val="20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spcBef>
          <a:spcPct val="20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7" name="Picture 1626">
            <a:extLst>
              <a:ext uri="{FF2B5EF4-FFF2-40B4-BE49-F238E27FC236}">
                <a16:creationId xmlns:a16="http://schemas.microsoft.com/office/drawing/2014/main" id="{C6EEC906-C426-DB7E-DCBD-E643E523A9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9130" y="7907017"/>
            <a:ext cx="6606540" cy="430276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5D272F0-1DD9-0D7B-70E3-D25AC11315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9130" y="7907017"/>
            <a:ext cx="6606540" cy="4302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1814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1F483-C95A-8C0D-224A-7FFB64A89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64C92C14-2461-C026-61CF-FDD0D45C5BC3}"/>
              </a:ext>
            </a:extLst>
          </p:cNvPr>
          <p:cNvGrpSpPr/>
          <p:nvPr/>
        </p:nvGrpSpPr>
        <p:grpSpPr>
          <a:xfrm>
            <a:off x="4254906" y="3907116"/>
            <a:ext cx="7100792" cy="7170220"/>
            <a:chOff x="4254906" y="3907116"/>
            <a:chExt cx="7100792" cy="717022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C863E86-5A9A-BD1D-C791-92D0DB016B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19751"/>
            <a:stretch>
              <a:fillRect/>
            </a:stretch>
          </p:blipFill>
          <p:spPr>
            <a:xfrm>
              <a:off x="4490509" y="7833376"/>
              <a:ext cx="5301715" cy="3243960"/>
            </a:xfrm>
            <a:prstGeom prst="rect">
              <a:avLst/>
            </a:prstGeom>
          </p:spPr>
        </p:pic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B44F3CC1-C09B-966C-32D4-529A1B86A6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19427"/>
            <a:stretch>
              <a:fillRect/>
            </a:stretch>
          </p:blipFill>
          <p:spPr>
            <a:xfrm>
              <a:off x="4469130" y="4121341"/>
              <a:ext cx="5323094" cy="3243960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112F6CE-9895-DF0A-D3CD-1859898A55ED}"/>
                </a:ext>
              </a:extLst>
            </p:cNvPr>
            <p:cNvSpPr/>
            <p:nvPr/>
          </p:nvSpPr>
          <p:spPr>
            <a:xfrm>
              <a:off x="4895680" y="3907116"/>
              <a:ext cx="4712924" cy="42844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388620" indent="-388620">
                <a:buAutoNum type="alphaUcParenBoth"/>
              </a:pPr>
              <a:r>
                <a:rPr lang="en-US" sz="2040" dirty="0">
                  <a:solidFill>
                    <a:schemeClr val="tx1"/>
                  </a:solidFill>
                </a:rPr>
                <a:t>Temperature in Common Gardens over </a:t>
              </a:r>
            </a:p>
            <a:p>
              <a:r>
                <a:rPr lang="en-US" sz="2040" dirty="0">
                  <a:solidFill>
                    <a:schemeClr val="tx1"/>
                  </a:solidFill>
                </a:rPr>
                <a:t>       Experimental Period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1865CA4-6490-1AA6-0739-E8D2DF9B88A2}"/>
                </a:ext>
              </a:extLst>
            </p:cNvPr>
            <p:cNvSpPr/>
            <p:nvPr/>
          </p:nvSpPr>
          <p:spPr>
            <a:xfrm>
              <a:off x="4895680" y="7592512"/>
              <a:ext cx="4712924" cy="42844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040" dirty="0">
                  <a:solidFill>
                    <a:schemeClr val="tx1"/>
                  </a:solidFill>
                </a:rPr>
                <a:t>(B) Salinity in Common Gardens over </a:t>
              </a:r>
            </a:p>
            <a:p>
              <a:r>
                <a:rPr lang="en-US" sz="2040" dirty="0">
                  <a:solidFill>
                    <a:schemeClr val="tx1"/>
                  </a:solidFill>
                </a:rPr>
                <a:t>      Experimental Period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861FFE3-4F27-F3AF-E33A-1B083E052C7E}"/>
                </a:ext>
              </a:extLst>
            </p:cNvPr>
            <p:cNvSpPr/>
            <p:nvPr/>
          </p:nvSpPr>
          <p:spPr>
            <a:xfrm rot="16200000">
              <a:off x="3656790" y="5324307"/>
              <a:ext cx="1624680" cy="42844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30" dirty="0">
                  <a:solidFill>
                    <a:schemeClr val="tx1"/>
                  </a:solidFill>
                </a:rPr>
                <a:t>Temperature (ºC)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5059778-732E-136E-8DD3-C70038ED669A}"/>
                </a:ext>
              </a:extLst>
            </p:cNvPr>
            <p:cNvSpPr/>
            <p:nvPr/>
          </p:nvSpPr>
          <p:spPr>
            <a:xfrm rot="16200000">
              <a:off x="3875532" y="9250578"/>
              <a:ext cx="1187197" cy="42844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30" dirty="0">
                  <a:solidFill>
                    <a:schemeClr val="tx1"/>
                  </a:solidFill>
                </a:rPr>
                <a:t>Salinity (ppt)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834834B-B656-1DEE-6351-919E85607E90}"/>
                </a:ext>
              </a:extLst>
            </p:cNvPr>
            <p:cNvSpPr/>
            <p:nvPr/>
          </p:nvSpPr>
          <p:spPr>
            <a:xfrm>
              <a:off x="6439802" y="7192897"/>
              <a:ext cx="1624680" cy="18758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30" dirty="0">
                  <a:solidFill>
                    <a:schemeClr val="tx1"/>
                  </a:solidFill>
                </a:rPr>
                <a:t>Date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067B18A-2FBA-B389-F66C-59258AB6DB6A}"/>
                </a:ext>
              </a:extLst>
            </p:cNvPr>
            <p:cNvSpPr/>
            <p:nvPr/>
          </p:nvSpPr>
          <p:spPr>
            <a:xfrm>
              <a:off x="6439802" y="10889751"/>
              <a:ext cx="1624680" cy="18758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30" dirty="0">
                  <a:solidFill>
                    <a:schemeClr val="tx1"/>
                  </a:solidFill>
                </a:rPr>
                <a:t>Date</a:t>
              </a:r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6713AD43-C090-4BE8-F924-0BC6F4FD2122}"/>
                </a:ext>
              </a:extLst>
            </p:cNvPr>
            <p:cNvGrpSpPr/>
            <p:nvPr/>
          </p:nvGrpSpPr>
          <p:grpSpPr>
            <a:xfrm>
              <a:off x="9731018" y="4484620"/>
              <a:ext cx="1624680" cy="799654"/>
              <a:chOff x="12591256" y="7158608"/>
              <a:chExt cx="1911388" cy="940769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4C6597BA-21D6-F849-5EC3-980E9C880C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80573" t="40042" b="41465"/>
              <a:stretch>
                <a:fillRect/>
              </a:stretch>
            </p:blipFill>
            <p:spPr>
              <a:xfrm>
                <a:off x="12663264" y="7163272"/>
                <a:ext cx="1509936" cy="936105"/>
              </a:xfrm>
              <a:prstGeom prst="rect">
                <a:avLst/>
              </a:prstGeom>
            </p:spPr>
          </p:pic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861C437-6E6E-497D-D237-41B1E4EC8F50}"/>
                  </a:ext>
                </a:extLst>
              </p:cNvPr>
              <p:cNvSpPr/>
              <p:nvPr/>
            </p:nvSpPr>
            <p:spPr>
              <a:xfrm>
                <a:off x="12591256" y="7158608"/>
                <a:ext cx="1911388" cy="22068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530" dirty="0">
                    <a:solidFill>
                      <a:schemeClr val="tx1"/>
                    </a:solidFill>
                  </a:rPr>
                  <a:t>Common Garden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E8472DED-9560-BF65-1E25-A67B0403DBE6}"/>
                  </a:ext>
                </a:extLst>
              </p:cNvPr>
              <p:cNvSpPr/>
              <p:nvPr/>
            </p:nvSpPr>
            <p:spPr>
              <a:xfrm>
                <a:off x="12915292" y="7442813"/>
                <a:ext cx="1188132" cy="22068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360" dirty="0">
                    <a:solidFill>
                      <a:schemeClr val="tx1"/>
                    </a:solidFill>
                  </a:rPr>
                  <a:t>Lewisetta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C697CFC-8144-422B-9249-87AAF57E0972}"/>
                  </a:ext>
                </a:extLst>
              </p:cNvPr>
              <p:cNvSpPr/>
              <p:nvPr/>
            </p:nvSpPr>
            <p:spPr>
              <a:xfrm>
                <a:off x="12915292" y="7696336"/>
                <a:ext cx="1188132" cy="22068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360" dirty="0">
                    <a:solidFill>
                      <a:schemeClr val="tx1"/>
                    </a:solidFill>
                  </a:rPr>
                  <a:t>York River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0CBB124-67C4-06F0-28E8-F4003F27691A}"/>
                  </a:ext>
                </a:extLst>
              </p:cNvPr>
              <p:cNvSpPr/>
              <p:nvPr/>
            </p:nvSpPr>
            <p:spPr>
              <a:xfrm>
                <a:off x="12719974" y="7466645"/>
                <a:ext cx="180020" cy="173024"/>
              </a:xfrm>
              <a:prstGeom prst="rect">
                <a:avLst/>
              </a:prstGeom>
              <a:solidFill>
                <a:srgbClr val="17FF7E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409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671A1061-E520-DEB3-7B5B-0159FE886A1C}"/>
                  </a:ext>
                </a:extLst>
              </p:cNvPr>
              <p:cNvSpPr/>
              <p:nvPr/>
            </p:nvSpPr>
            <p:spPr>
              <a:xfrm>
                <a:off x="12719974" y="7727957"/>
                <a:ext cx="180020" cy="173024"/>
              </a:xfrm>
              <a:prstGeom prst="rect">
                <a:avLst/>
              </a:prstGeom>
              <a:solidFill>
                <a:srgbClr val="1A79FF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409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608733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C3434-1AC4-28D0-EDDB-FAF03ADDC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277A6EBE-B1C4-C668-A153-1812FF9DAD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9130" y="7907017"/>
            <a:ext cx="6606540" cy="4302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92053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3C5BBBF-932F-8EC7-7784-6A4D748DA9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9130" y="7907017"/>
            <a:ext cx="6606540" cy="4302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62519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5422F85-B3B6-F013-4BE5-355D6F7A4061}"/>
              </a:ext>
            </a:extLst>
          </p:cNvPr>
          <p:cNvGrpSpPr/>
          <p:nvPr/>
        </p:nvGrpSpPr>
        <p:grpSpPr>
          <a:xfrm>
            <a:off x="1275844" y="3793704"/>
            <a:ext cx="12993111" cy="13251275"/>
            <a:chOff x="1583492" y="3784704"/>
            <a:chExt cx="12993111" cy="13251275"/>
          </a:xfrm>
        </p:grpSpPr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E7E53A25-1C40-1D92-23FC-2925B8E04B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21251"/>
            <a:stretch>
              <a:fillRect/>
            </a:stretch>
          </p:blipFill>
          <p:spPr>
            <a:xfrm>
              <a:off x="2080168" y="3998927"/>
              <a:ext cx="5202578" cy="43027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D3196B2-5E38-8770-253B-B3F65DE8AB3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21251"/>
            <a:stretch>
              <a:fillRect/>
            </a:stretch>
          </p:blipFill>
          <p:spPr>
            <a:xfrm>
              <a:off x="7735671" y="3998928"/>
              <a:ext cx="5202578" cy="4302766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17FE153-138F-5037-73AC-9A49FA9A3851}"/>
                </a:ext>
              </a:extLst>
            </p:cNvPr>
            <p:cNvSpPr/>
            <p:nvPr/>
          </p:nvSpPr>
          <p:spPr>
            <a:xfrm>
              <a:off x="2533092" y="3784704"/>
              <a:ext cx="4712924" cy="42844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388620" indent="-388620">
                <a:buAutoNum type="alphaUcParenBoth"/>
              </a:pPr>
              <a:r>
                <a:rPr lang="en-US" sz="2040" dirty="0">
                  <a:solidFill>
                    <a:schemeClr val="tx1"/>
                  </a:solidFill>
                </a:rPr>
                <a:t>MSX Prevalence in Common Gardens</a:t>
              </a:r>
            </a:p>
            <a:p>
              <a:r>
                <a:rPr lang="en-US" sz="2040" dirty="0">
                  <a:solidFill>
                    <a:schemeClr val="tx1"/>
                  </a:solidFill>
                </a:rPr>
                <a:t>       over Experimental Period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6FBDB0B-43F6-DF09-BD60-F2DD48B7EF2D}"/>
                </a:ext>
              </a:extLst>
            </p:cNvPr>
            <p:cNvSpPr/>
            <p:nvPr/>
          </p:nvSpPr>
          <p:spPr>
            <a:xfrm>
              <a:off x="8225325" y="3784704"/>
              <a:ext cx="4712924" cy="42844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040" dirty="0">
                  <a:solidFill>
                    <a:schemeClr val="tx1"/>
                  </a:solidFill>
                </a:rPr>
                <a:t>(B) Dermo Prevalence in Common Gardens</a:t>
              </a:r>
            </a:p>
            <a:p>
              <a:r>
                <a:rPr lang="en-US" sz="2040" dirty="0">
                  <a:solidFill>
                    <a:schemeClr val="tx1"/>
                  </a:solidFill>
                </a:rPr>
                <a:t>       over Experimental Period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48E700F-0EF8-5456-DDDD-C6AE43DDAA7B}"/>
                </a:ext>
              </a:extLst>
            </p:cNvPr>
            <p:cNvSpPr/>
            <p:nvPr/>
          </p:nvSpPr>
          <p:spPr>
            <a:xfrm rot="16200000">
              <a:off x="1374826" y="5936087"/>
              <a:ext cx="1582052" cy="42844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30" dirty="0">
                  <a:solidFill>
                    <a:schemeClr val="tx1"/>
                  </a:solidFill>
                </a:rPr>
                <a:t>MSX Prevalence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BDCFE68-8327-CBBF-9940-8C3FF8FA4A83}"/>
                </a:ext>
              </a:extLst>
            </p:cNvPr>
            <p:cNvSpPr/>
            <p:nvPr/>
          </p:nvSpPr>
          <p:spPr>
            <a:xfrm rot="16200000">
              <a:off x="6879875" y="5936087"/>
              <a:ext cx="1711592" cy="42844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30" dirty="0">
                  <a:solidFill>
                    <a:schemeClr val="tx1"/>
                  </a:solidFill>
                </a:rPr>
                <a:t>Dermo Prevalence</a:t>
              </a: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7D53A8DB-AFFB-CE30-C4F8-FBF259979F9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0573" t="40042" b="41465"/>
            <a:stretch>
              <a:fillRect/>
            </a:stretch>
          </p:blipFill>
          <p:spPr>
            <a:xfrm>
              <a:off x="13013129" y="4498829"/>
              <a:ext cx="1283446" cy="795689"/>
            </a:xfrm>
            <a:prstGeom prst="rect">
              <a:avLst/>
            </a:prstGeom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D705FC-818C-E749-F479-1B13F50D427C}"/>
                </a:ext>
              </a:extLst>
            </p:cNvPr>
            <p:cNvSpPr/>
            <p:nvPr/>
          </p:nvSpPr>
          <p:spPr>
            <a:xfrm>
              <a:off x="12951923" y="4253400"/>
              <a:ext cx="1624680" cy="42844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530" dirty="0">
                  <a:solidFill>
                    <a:schemeClr val="tx1"/>
                  </a:solidFill>
                </a:rPr>
                <a:t>Common Garden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0BB86C2-778A-5741-1BB6-E10469737AC5}"/>
                </a:ext>
              </a:extLst>
            </p:cNvPr>
            <p:cNvSpPr/>
            <p:nvPr/>
          </p:nvSpPr>
          <p:spPr>
            <a:xfrm>
              <a:off x="13336093" y="4736435"/>
              <a:ext cx="1009912" cy="18758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360" dirty="0">
                  <a:solidFill>
                    <a:schemeClr val="tx1"/>
                  </a:solidFill>
                </a:rPr>
                <a:t>Lewisetta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24EF363-8867-5EA1-46FF-5D2FF7DB813D}"/>
                </a:ext>
              </a:extLst>
            </p:cNvPr>
            <p:cNvSpPr/>
            <p:nvPr/>
          </p:nvSpPr>
          <p:spPr>
            <a:xfrm>
              <a:off x="13336093" y="5032086"/>
              <a:ext cx="1009912" cy="18758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360" dirty="0">
                  <a:solidFill>
                    <a:schemeClr val="tx1"/>
                  </a:solidFill>
                </a:rPr>
                <a:t>York River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96F4F35-B256-A04C-C1E9-8CD700735543}"/>
                </a:ext>
              </a:extLst>
            </p:cNvPr>
            <p:cNvSpPr/>
            <p:nvPr/>
          </p:nvSpPr>
          <p:spPr>
            <a:xfrm>
              <a:off x="3976115" y="8087470"/>
              <a:ext cx="1582052" cy="42844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30" dirty="0">
                  <a:solidFill>
                    <a:schemeClr val="tx1"/>
                  </a:solidFill>
                </a:rPr>
                <a:t>Date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950C191-6378-8F50-B5C2-16554B72D4E0}"/>
                </a:ext>
              </a:extLst>
            </p:cNvPr>
            <p:cNvSpPr/>
            <p:nvPr/>
          </p:nvSpPr>
          <p:spPr>
            <a:xfrm>
              <a:off x="9637744" y="8087470"/>
              <a:ext cx="1582052" cy="42844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30" dirty="0">
                  <a:solidFill>
                    <a:schemeClr val="tx1"/>
                  </a:solidFill>
                </a:rPr>
                <a:t>Date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F9413902-5562-5AA6-653F-D154E7BBE925}"/>
                </a:ext>
              </a:extLst>
            </p:cNvPr>
            <p:cNvSpPr/>
            <p:nvPr/>
          </p:nvSpPr>
          <p:spPr>
            <a:xfrm>
              <a:off x="13061333" y="4978808"/>
              <a:ext cx="153017" cy="147070"/>
            </a:xfrm>
            <a:prstGeom prst="rect">
              <a:avLst/>
            </a:prstGeom>
            <a:solidFill>
              <a:srgbClr val="1A79FF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409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51DCC6A-F960-7A05-075E-0F4DC1EC042C}"/>
                </a:ext>
              </a:extLst>
            </p:cNvPr>
            <p:cNvSpPr/>
            <p:nvPr/>
          </p:nvSpPr>
          <p:spPr>
            <a:xfrm>
              <a:off x="13061333" y="4756693"/>
              <a:ext cx="153017" cy="147070"/>
            </a:xfrm>
            <a:prstGeom prst="rect">
              <a:avLst/>
            </a:prstGeom>
            <a:solidFill>
              <a:srgbClr val="17FF7E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409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1FB5CC8C-473E-A0DF-E263-34499A30C267}"/>
                </a:ext>
              </a:extLst>
            </p:cNvPr>
            <p:cNvSpPr/>
            <p:nvPr/>
          </p:nvSpPr>
          <p:spPr>
            <a:xfrm>
              <a:off x="12999455" y="4679515"/>
              <a:ext cx="287579" cy="284255"/>
            </a:xfrm>
            <a:prstGeom prst="rect">
              <a:avLst/>
            </a:prstGeom>
            <a:solidFill>
              <a:srgbClr val="17FF7E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409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BD2B97F-10BD-A100-9EDE-FB0184035C5A}"/>
                </a:ext>
              </a:extLst>
            </p:cNvPr>
            <p:cNvSpPr/>
            <p:nvPr/>
          </p:nvSpPr>
          <p:spPr>
            <a:xfrm>
              <a:off x="12999455" y="4975065"/>
              <a:ext cx="287579" cy="284255"/>
            </a:xfrm>
            <a:prstGeom prst="rect">
              <a:avLst/>
            </a:prstGeom>
            <a:solidFill>
              <a:srgbClr val="1A79FF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409"/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3B685F93-01E0-04D8-399E-5745C28B6CF6}"/>
                </a:ext>
              </a:extLst>
            </p:cNvPr>
            <p:cNvGrpSpPr/>
            <p:nvPr/>
          </p:nvGrpSpPr>
          <p:grpSpPr>
            <a:xfrm>
              <a:off x="1583492" y="8375944"/>
              <a:ext cx="12800337" cy="8660035"/>
              <a:chOff x="1248943" y="15625067"/>
              <a:chExt cx="15059220" cy="10995706"/>
            </a:xfrm>
          </p:grpSpPr>
          <p:pic>
            <p:nvPicPr>
              <p:cNvPr id="3076" name="Picture 4">
                <a:extLst>
                  <a:ext uri="{FF2B5EF4-FFF2-40B4-BE49-F238E27FC236}">
                    <a16:creationId xmlns:a16="http://schemas.microsoft.com/office/drawing/2014/main" id="{F6D93FDB-3310-08E6-8320-61ACF7510E4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16490"/>
              <a:stretch>
                <a:fillRect/>
              </a:stretch>
            </p:blipFill>
            <p:spPr bwMode="auto">
              <a:xfrm>
                <a:off x="1248943" y="15625067"/>
                <a:ext cx="11846368" cy="107436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73C567E-A26E-786B-C29F-605FE95B1F4A}"/>
                  </a:ext>
                </a:extLst>
              </p:cNvPr>
              <p:cNvSpPr/>
              <p:nvPr/>
            </p:nvSpPr>
            <p:spPr>
              <a:xfrm>
                <a:off x="2517049" y="15789746"/>
                <a:ext cx="12235236" cy="504056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2040" dirty="0">
                    <a:solidFill>
                      <a:schemeClr val="tx1"/>
                    </a:solidFill>
                  </a:rPr>
                  <a:t>(C) Median Disease Pressure By Common Garden Site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0420000-4144-D14F-B365-BFC7642A389E}"/>
                  </a:ext>
                </a:extLst>
              </p:cNvPr>
              <p:cNvSpPr/>
              <p:nvPr/>
            </p:nvSpPr>
            <p:spPr>
              <a:xfrm rot="16200000">
                <a:off x="-1184948" y="20744878"/>
                <a:ext cx="5371839" cy="504056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530" dirty="0">
                    <a:solidFill>
                      <a:schemeClr val="tx1"/>
                    </a:solidFill>
                  </a:rPr>
                  <a:t>Disease Prevalence</a:t>
                </a:r>
              </a:p>
            </p:txBody>
          </p:sp>
          <p:pic>
            <p:nvPicPr>
              <p:cNvPr id="25" name="Picture 4">
                <a:extLst>
                  <a:ext uri="{FF2B5EF4-FFF2-40B4-BE49-F238E27FC236}">
                    <a16:creationId xmlns:a16="http://schemas.microsoft.com/office/drawing/2014/main" id="{A85BCA85-A8CA-E9D2-74A9-9404749B3BC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2436" t="38214" b="39430"/>
              <a:stretch>
                <a:fillRect/>
              </a:stretch>
            </p:blipFill>
            <p:spPr bwMode="auto">
              <a:xfrm>
                <a:off x="14695575" y="16426681"/>
                <a:ext cx="1612588" cy="155455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8A70AE1D-8B2A-765F-39A6-3F3BD09D5C55}"/>
                  </a:ext>
                </a:extLst>
              </p:cNvPr>
              <p:cNvSpPr/>
              <p:nvPr/>
            </p:nvSpPr>
            <p:spPr>
              <a:xfrm>
                <a:off x="14877288" y="16797528"/>
                <a:ext cx="338328" cy="334418"/>
              </a:xfrm>
              <a:prstGeom prst="rect">
                <a:avLst/>
              </a:prstGeom>
              <a:solidFill>
                <a:srgbClr val="FA2F39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409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3C3BB425-0EBF-10DA-3D83-CF4F390350BF}"/>
                  </a:ext>
                </a:extLst>
              </p:cNvPr>
              <p:cNvSpPr/>
              <p:nvPr/>
            </p:nvSpPr>
            <p:spPr>
              <a:xfrm>
                <a:off x="14877288" y="17145234"/>
                <a:ext cx="338328" cy="334418"/>
              </a:xfrm>
              <a:prstGeom prst="rect">
                <a:avLst/>
              </a:prstGeom>
              <a:solidFill>
                <a:srgbClr val="FED154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409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BBBDF8AB-D751-4B6D-C3FA-7C4D3D2527B3}"/>
                  </a:ext>
                </a:extLst>
              </p:cNvPr>
              <p:cNvSpPr/>
              <p:nvPr/>
            </p:nvSpPr>
            <p:spPr>
              <a:xfrm>
                <a:off x="14877288" y="17492940"/>
                <a:ext cx="338328" cy="334418"/>
              </a:xfrm>
              <a:prstGeom prst="rect">
                <a:avLst/>
              </a:prstGeom>
              <a:solidFill>
                <a:srgbClr val="118EA8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409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95802A6-DCAC-04B2-21F4-8BE8E372DD2B}"/>
                  </a:ext>
                </a:extLst>
              </p:cNvPr>
              <p:cNvSpPr/>
              <p:nvPr/>
            </p:nvSpPr>
            <p:spPr>
              <a:xfrm>
                <a:off x="4993843" y="25813344"/>
                <a:ext cx="5371839" cy="80742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530" dirty="0">
                    <a:solidFill>
                      <a:schemeClr val="tx1"/>
                    </a:solidFill>
                  </a:rPr>
                  <a:t>Common Garden Site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FD622416-87C8-F692-028A-58BAFC9CB925}"/>
                  </a:ext>
                </a:extLst>
              </p:cNvPr>
              <p:cNvSpPr/>
              <p:nvPr/>
            </p:nvSpPr>
            <p:spPr>
              <a:xfrm>
                <a:off x="2538897" y="25525312"/>
                <a:ext cx="5371839" cy="40371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530" dirty="0">
                    <a:solidFill>
                      <a:schemeClr val="tx1"/>
                    </a:solidFill>
                  </a:rPr>
                  <a:t>Lewisetta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8B4077A6-CB69-03EA-3956-F08D2681C364}"/>
                  </a:ext>
                </a:extLst>
              </p:cNvPr>
              <p:cNvSpPr/>
              <p:nvPr/>
            </p:nvSpPr>
            <p:spPr>
              <a:xfrm>
                <a:off x="7177990" y="25543313"/>
                <a:ext cx="5371839" cy="40371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530" dirty="0">
                    <a:solidFill>
                      <a:schemeClr val="tx1"/>
                    </a:solidFill>
                  </a:rPr>
                  <a:t>York River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25750477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</TotalTime>
  <Words>84</Words>
  <Application>Microsoft Macintosh PowerPoint</Application>
  <PresentationFormat>Custom</PresentationFormat>
  <Paragraphs>27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Camille Rumberger</cp:lastModifiedBy>
  <cp:revision>9</cp:revision>
  <dcterms:created xsi:type="dcterms:W3CDTF">2017-02-13T16:18:36Z</dcterms:created>
  <dcterms:modified xsi:type="dcterms:W3CDTF">2026-05-07T12:53:13Z</dcterms:modified>
  <cp:category/>
</cp:coreProperties>
</file>